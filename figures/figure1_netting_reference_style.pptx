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6400800" cy="34747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43447"/>
                </a:solidFill>
                <a:latin typeface="Arial"/>
              </a:rPr>
              <a:t>Figure 1. Bilateral Netting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5897880" cy="22860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67085"/>
                </a:solidFill>
                <a:latin typeface="Arial"/>
              </a:rPr>
              <a:t>Full-offset case: reciprocal CTXs become compact settlement txs.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78040" y="228600"/>
            <a:ext cx="4434840" cy="530352"/>
          </a:xfrm>
          <a:prstGeom prst="roundRect">
            <a:avLst>
              <a:gd name="adj" fmla="val 2000"/>
            </a:avLst>
          </a:prstGeom>
          <a:solidFill>
            <a:srgbClr val="F7FAFC"/>
          </a:solidFill>
          <a:ln w="203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92009" y="320040"/>
            <a:ext cx="112654" cy="112654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rapezoid 5"/>
          <p:cNvSpPr/>
          <p:nvPr/>
        </p:nvSpPr>
        <p:spPr>
          <a:xfrm rot="10800000">
            <a:off x="7351775" y="432694"/>
            <a:ext cx="193121" cy="168981"/>
          </a:xfrm>
          <a:prstGeom prst="trapezoid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56601" y="320040"/>
            <a:ext cx="112654" cy="112654"/>
          </a:xfrm>
          <a:prstGeom prst="ellipse">
            <a:avLst/>
          </a:prstGeom>
          <a:solidFill>
            <a:srgbClr val="D17A35"/>
          </a:solidFill>
          <a:ln>
            <a:solidFill>
              <a:srgbClr val="D17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rapezoid 7"/>
          <p:cNvSpPr/>
          <p:nvPr/>
        </p:nvSpPr>
        <p:spPr>
          <a:xfrm rot="10800000">
            <a:off x="7516367" y="432694"/>
            <a:ext cx="193121" cy="168981"/>
          </a:xfrm>
          <a:prstGeom prst="trapezoid">
            <a:avLst/>
          </a:prstGeom>
          <a:solidFill>
            <a:srgbClr val="D17A35"/>
          </a:solidFill>
          <a:ln>
            <a:solidFill>
              <a:srgbClr val="D17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21193" y="320040"/>
            <a:ext cx="112654" cy="112654"/>
          </a:xfrm>
          <a:prstGeom prst="ellipse">
            <a:avLst/>
          </a:prstGeom>
          <a:solidFill>
            <a:srgbClr val="CBA636"/>
          </a:solidFill>
          <a:ln>
            <a:solidFill>
              <a:srgbClr val="CBA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rapezoid 9"/>
          <p:cNvSpPr/>
          <p:nvPr/>
        </p:nvSpPr>
        <p:spPr>
          <a:xfrm rot="10800000">
            <a:off x="7680959" y="432694"/>
            <a:ext cx="193121" cy="168981"/>
          </a:xfrm>
          <a:prstGeom prst="trapezoid">
            <a:avLst/>
          </a:prstGeom>
          <a:solidFill>
            <a:srgbClr val="CBA636"/>
          </a:solidFill>
          <a:ln>
            <a:solidFill>
              <a:srgbClr val="CBA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885785" y="320040"/>
            <a:ext cx="112654" cy="112654"/>
          </a:xfrm>
          <a:prstGeom prst="ellipse">
            <a:avLst/>
          </a:prstGeom>
          <a:solidFill>
            <a:srgbClr val="4F6FB8"/>
          </a:solidFill>
          <a:ln>
            <a:solidFill>
              <a:srgbClr val="4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rapezoid 11"/>
          <p:cNvSpPr/>
          <p:nvPr/>
        </p:nvSpPr>
        <p:spPr>
          <a:xfrm rot="10800000">
            <a:off x="7845551" y="432694"/>
            <a:ext cx="193121" cy="168981"/>
          </a:xfrm>
          <a:prstGeom prst="trapezoid">
            <a:avLst/>
          </a:prstGeom>
          <a:solidFill>
            <a:srgbClr val="4F6FB8"/>
          </a:solidFill>
          <a:ln>
            <a:solidFill>
              <a:srgbClr val="4F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50377" y="320040"/>
            <a:ext cx="112654" cy="112654"/>
          </a:xfrm>
          <a:prstGeom prst="ellipse">
            <a:avLst/>
          </a:prstGeom>
          <a:solidFill>
            <a:srgbClr val="13A89E"/>
          </a:solidFill>
          <a:ln>
            <a:solidFill>
              <a:srgbClr val="13A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rapezoid 13"/>
          <p:cNvSpPr/>
          <p:nvPr/>
        </p:nvSpPr>
        <p:spPr>
          <a:xfrm rot="10800000">
            <a:off x="8010144" y="432694"/>
            <a:ext cx="193121" cy="168981"/>
          </a:xfrm>
          <a:prstGeom prst="trapezoid">
            <a:avLst/>
          </a:prstGeom>
          <a:solidFill>
            <a:srgbClr val="13A89E"/>
          </a:solidFill>
          <a:ln>
            <a:solidFill>
              <a:srgbClr val="13A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14969" y="320040"/>
            <a:ext cx="112654" cy="112654"/>
          </a:xfrm>
          <a:prstGeom prst="ellipse">
            <a:avLst/>
          </a:prstGeom>
          <a:solidFill>
            <a:srgbClr val="3F6F2A"/>
          </a:solidFill>
          <a:ln>
            <a:solidFill>
              <a:srgbClr val="3F6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rapezoid 15"/>
          <p:cNvSpPr/>
          <p:nvPr/>
        </p:nvSpPr>
        <p:spPr>
          <a:xfrm rot="10800000">
            <a:off x="8174736" y="432694"/>
            <a:ext cx="193121" cy="168981"/>
          </a:xfrm>
          <a:prstGeom prst="trapezoid">
            <a:avLst/>
          </a:prstGeom>
          <a:solidFill>
            <a:srgbClr val="3F6F2A"/>
          </a:solidFill>
          <a:ln>
            <a:solidFill>
              <a:srgbClr val="3F6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347472"/>
            <a:ext cx="877824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43447"/>
                </a:solidFill>
                <a:latin typeface="Arial"/>
              </a:rPr>
              <a:t>Accounts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292608"/>
            <a:ext cx="192755" cy="2611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9220809" y="354787"/>
            <a:ext cx="124359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220809" y="410748"/>
            <a:ext cx="124359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220809" y="466709"/>
            <a:ext cx="124359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338950" y="392094"/>
            <a:ext cx="111922" cy="11192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73768" y="274320"/>
            <a:ext cx="1828800" cy="32918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43447"/>
                </a:solidFill>
                <a:latin typeface="Arial"/>
              </a:rPr>
              <a:t>Intra/Cross-shard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43447"/>
                </a:solidFill>
                <a:latin typeface="Arial"/>
              </a:rPr>
              <a:t>transaction (ITX/CTX)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1170432"/>
            <a:ext cx="3383280" cy="4343400"/>
          </a:xfrm>
          <a:prstGeom prst="roundRect">
            <a:avLst>
              <a:gd name="adj" fmla="val 3500"/>
            </a:avLst>
          </a:prstGeom>
          <a:solidFill>
            <a:srgbClr val="F7FAFC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21208" y="1280160"/>
            <a:ext cx="347472" cy="27432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AFC"/>
                </a:solidFill>
                <a:latin typeface="Arial"/>
              </a:rPr>
              <a:t>(a)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5586984"/>
            <a:ext cx="2788920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43447"/>
                </a:solidFill>
                <a:latin typeface="Arial"/>
              </a:rPr>
              <a:t>CTX first half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60520" y="1170432"/>
            <a:ext cx="3383280" cy="4343400"/>
          </a:xfrm>
          <a:prstGeom prst="roundRect">
            <a:avLst>
              <a:gd name="adj" fmla="val 3500"/>
            </a:avLst>
          </a:prstGeom>
          <a:solidFill>
            <a:srgbClr val="F7FAFC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270248" y="1280160"/>
            <a:ext cx="347472" cy="27432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AFC"/>
                </a:solidFill>
                <a:latin typeface="Arial"/>
              </a:rPr>
              <a:t>(b)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0872" y="5586984"/>
            <a:ext cx="2788920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43447"/>
                </a:solidFill>
                <a:latin typeface="Arial"/>
              </a:rPr>
              <a:t>Traditional CTX second half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09560" y="1170432"/>
            <a:ext cx="3840480" cy="4343400"/>
          </a:xfrm>
          <a:prstGeom prst="roundRect">
            <a:avLst>
              <a:gd name="adj" fmla="val 3500"/>
            </a:avLst>
          </a:prstGeom>
          <a:solidFill>
            <a:srgbClr val="F7FAFC"/>
          </a:solidFill>
          <a:ln w="29209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19288" y="1280160"/>
            <a:ext cx="347472" cy="27432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AFC"/>
                </a:solidFill>
                <a:latin typeface="Arial"/>
              </a:rPr>
              <a:t>(c)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9912" y="5586984"/>
            <a:ext cx="3246120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43447"/>
                </a:solidFill>
                <a:latin typeface="Arial"/>
              </a:rPr>
              <a:t>Netting CTX second half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1463040"/>
            <a:ext cx="1261872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786C9"/>
                </a:solidFill>
                <a:latin typeface="Arial"/>
              </a:rPr>
              <a:t>Shard S1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1463040"/>
            <a:ext cx="1261872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3F6F2A"/>
                </a:solidFill>
                <a:latin typeface="Arial"/>
              </a:rPr>
              <a:t>Shard S2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103120" y="1609344"/>
            <a:ext cx="0" cy="2715768"/>
          </a:xfrm>
          <a:prstGeom prst="line">
            <a:avLst/>
          </a:prstGeom>
          <a:ln w="15240">
            <a:solidFill>
              <a:srgbClr val="D4D9E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ircular Arrow 35"/>
          <p:cNvSpPr/>
          <p:nvPr/>
        </p:nvSpPr>
        <p:spPr>
          <a:xfrm>
            <a:off x="1179576" y="1883664"/>
            <a:ext cx="475488" cy="384048"/>
          </a:xfrm>
          <a:prstGeom prst="circular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1645920"/>
            <a:ext cx="804672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447"/>
                </a:solidFill>
                <a:latin typeface="Arial"/>
              </a:rPr>
              <a:t>1. PBFT</a:t>
            </a:r>
          </a:p>
        </p:txBody>
      </p:sp>
      <p:sp>
        <p:nvSpPr>
          <p:cNvPr id="38" name="Circular Arrow 37"/>
          <p:cNvSpPr/>
          <p:nvPr/>
        </p:nvSpPr>
        <p:spPr>
          <a:xfrm>
            <a:off x="2743200" y="1883664"/>
            <a:ext cx="475488" cy="384048"/>
          </a:xfrm>
          <a:prstGeom prst="circular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87752" y="1645920"/>
            <a:ext cx="804672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447"/>
                </a:solidFill>
                <a:latin typeface="Arial"/>
              </a:rPr>
              <a:t>1. PBFT</a:t>
            </a:r>
          </a:p>
        </p:txBody>
      </p:sp>
      <p:sp>
        <p:nvSpPr>
          <p:cNvPr id="40" name="Oval 39"/>
          <p:cNvSpPr/>
          <p:nvPr/>
        </p:nvSpPr>
        <p:spPr>
          <a:xfrm>
            <a:off x="1143000" y="2560320"/>
            <a:ext cx="256032" cy="256032"/>
          </a:xfrm>
          <a:prstGeom prst="ellipse">
            <a:avLst/>
          </a:prstGeom>
          <a:solidFill>
            <a:srgbClr val="0786C9"/>
          </a:solidFill>
          <a:ln>
            <a:solidFill>
              <a:srgbClr val="078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rapezoid 40"/>
          <p:cNvSpPr/>
          <p:nvPr/>
        </p:nvSpPr>
        <p:spPr>
          <a:xfrm rot="10800000">
            <a:off x="1051560" y="2816352"/>
            <a:ext cx="438912" cy="384048"/>
          </a:xfrm>
          <a:prstGeom prst="trapezoid">
            <a:avLst/>
          </a:prstGeom>
          <a:solidFill>
            <a:srgbClr val="0786C9"/>
          </a:solidFill>
          <a:ln>
            <a:solidFill>
              <a:srgbClr val="078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8407" y="3218687"/>
            <a:ext cx="59436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3447"/>
                </a:solidFill>
                <a:latin typeface="Arial"/>
              </a:rPr>
              <a:t>S1</a:t>
            </a:r>
          </a:p>
        </p:txBody>
      </p:sp>
      <p:sp>
        <p:nvSpPr>
          <p:cNvPr id="43" name="Oval 42"/>
          <p:cNvSpPr/>
          <p:nvPr/>
        </p:nvSpPr>
        <p:spPr>
          <a:xfrm>
            <a:off x="2907792" y="2560320"/>
            <a:ext cx="256032" cy="256032"/>
          </a:xfrm>
          <a:prstGeom prst="ellipse">
            <a:avLst/>
          </a:prstGeom>
          <a:solidFill>
            <a:srgbClr val="3F6F2A"/>
          </a:solidFill>
          <a:ln>
            <a:solidFill>
              <a:srgbClr val="3F6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rapezoid 43"/>
          <p:cNvSpPr/>
          <p:nvPr/>
        </p:nvSpPr>
        <p:spPr>
          <a:xfrm rot="10800000">
            <a:off x="2816352" y="2816352"/>
            <a:ext cx="438912" cy="384048"/>
          </a:xfrm>
          <a:prstGeom prst="trapezoid">
            <a:avLst/>
          </a:prstGeom>
          <a:solidFill>
            <a:srgbClr val="3F6F2A"/>
          </a:solidFill>
          <a:ln>
            <a:solidFill>
              <a:srgbClr val="3F6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0" y="3218687"/>
            <a:ext cx="59436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3447"/>
                </a:solidFill>
                <a:latin typeface="Arial"/>
              </a:rPr>
              <a:t>S2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27048" y="2615184"/>
            <a:ext cx="209763" cy="28419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1560880" y="2682849"/>
            <a:ext cx="13533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560880" y="2743748"/>
            <a:ext cx="13533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560880" y="2804647"/>
            <a:ext cx="13533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1689445" y="2723448"/>
            <a:ext cx="121798" cy="12179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459736" y="3392424"/>
            <a:ext cx="209763" cy="28419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2493568" y="3460089"/>
            <a:ext cx="13533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493568" y="3520988"/>
            <a:ext cx="13533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493568" y="3581887"/>
            <a:ext cx="13533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2622133" y="3500688"/>
            <a:ext cx="121798" cy="12179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892808" y="2907791"/>
            <a:ext cx="804672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Isosceles Triangle 56"/>
          <p:cNvSpPr/>
          <p:nvPr/>
        </p:nvSpPr>
        <p:spPr>
          <a:xfrm rot="5400000">
            <a:off x="2624328" y="2834639"/>
            <a:ext cx="146304" cy="146304"/>
          </a:xfrm>
          <a:prstGeom prst="triangl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 flipH="1">
            <a:off x="1581912" y="3657600"/>
            <a:ext cx="804672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Isosceles Triangle 58"/>
          <p:cNvSpPr/>
          <p:nvPr/>
        </p:nvSpPr>
        <p:spPr>
          <a:xfrm rot="16200000">
            <a:off x="1508760" y="3584448"/>
            <a:ext cx="146304" cy="146304"/>
          </a:xfrm>
          <a:prstGeom prst="triangl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856232" y="2596896"/>
            <a:ext cx="86868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243447"/>
                </a:solidFill>
                <a:latin typeface="Arial"/>
              </a:rPr>
              <a:t>a1, b1, c1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645920" y="3803904"/>
            <a:ext cx="86868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243447"/>
                </a:solidFill>
                <a:latin typeface="Arial"/>
              </a:rPr>
              <a:t>d1, e1, f1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69848" y="4462272"/>
            <a:ext cx="2057400" cy="502920"/>
          </a:xfrm>
          <a:prstGeom prst="roundRect">
            <a:avLst>
              <a:gd name="adj" fmla="val 8000"/>
            </a:avLst>
          </a:prstGeom>
          <a:solidFill>
            <a:srgbClr val="EAF6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43447"/>
                </a:solidFill>
                <a:latin typeface="Arial"/>
              </a:rPr>
              <a:t>n bidirectional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43447"/>
                </a:solidFill>
                <a:latin typeface="Arial"/>
              </a:rPr>
              <a:t>cross-shard txs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98848" y="1463040"/>
            <a:ext cx="1261872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786C9"/>
                </a:solidFill>
                <a:latin typeface="Arial"/>
              </a:rPr>
              <a:t>Shard S1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0" y="1463040"/>
            <a:ext cx="1261872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3F6F2A"/>
                </a:solidFill>
                <a:latin typeface="Arial"/>
              </a:rPr>
              <a:t>Shard S2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852160" y="1609344"/>
            <a:ext cx="0" cy="2715768"/>
          </a:xfrm>
          <a:prstGeom prst="line">
            <a:avLst/>
          </a:prstGeom>
          <a:ln w="15240">
            <a:solidFill>
              <a:srgbClr val="D4D9E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Circular Arrow 65"/>
          <p:cNvSpPr/>
          <p:nvPr/>
        </p:nvSpPr>
        <p:spPr>
          <a:xfrm>
            <a:off x="4928616" y="1883664"/>
            <a:ext cx="475488" cy="384048"/>
          </a:xfrm>
          <a:prstGeom prst="circular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73168" y="1645920"/>
            <a:ext cx="804672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447"/>
                </a:solidFill>
                <a:latin typeface="Arial"/>
              </a:rPr>
              <a:t>2. PBFT</a:t>
            </a:r>
          </a:p>
        </p:txBody>
      </p:sp>
      <p:sp>
        <p:nvSpPr>
          <p:cNvPr id="68" name="Circular Arrow 67"/>
          <p:cNvSpPr/>
          <p:nvPr/>
        </p:nvSpPr>
        <p:spPr>
          <a:xfrm>
            <a:off x="6492240" y="1883664"/>
            <a:ext cx="475488" cy="384048"/>
          </a:xfrm>
          <a:prstGeom prst="circular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36792" y="1645920"/>
            <a:ext cx="804672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447"/>
                </a:solidFill>
                <a:latin typeface="Arial"/>
              </a:rPr>
              <a:t>2. PBFT</a:t>
            </a:r>
          </a:p>
        </p:txBody>
      </p:sp>
      <p:sp>
        <p:nvSpPr>
          <p:cNvPr id="70" name="Oval 69"/>
          <p:cNvSpPr/>
          <p:nvPr/>
        </p:nvSpPr>
        <p:spPr>
          <a:xfrm>
            <a:off x="4910327" y="2542032"/>
            <a:ext cx="256032" cy="256032"/>
          </a:xfrm>
          <a:prstGeom prst="ellipse">
            <a:avLst/>
          </a:prstGeom>
          <a:solidFill>
            <a:srgbClr val="0786C9"/>
          </a:solidFill>
          <a:ln>
            <a:solidFill>
              <a:srgbClr val="078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rapezoid 70"/>
          <p:cNvSpPr/>
          <p:nvPr/>
        </p:nvSpPr>
        <p:spPr>
          <a:xfrm rot="10800000">
            <a:off x="4818888" y="2798064"/>
            <a:ext cx="438912" cy="384048"/>
          </a:xfrm>
          <a:prstGeom prst="trapezoid">
            <a:avLst/>
          </a:prstGeom>
          <a:solidFill>
            <a:srgbClr val="0786C9"/>
          </a:solidFill>
          <a:ln>
            <a:solidFill>
              <a:srgbClr val="078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745736" y="3200400"/>
            <a:ext cx="59436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3447"/>
                </a:solidFill>
                <a:latin typeface="Arial"/>
              </a:rPr>
              <a:t>S1</a:t>
            </a:r>
          </a:p>
        </p:txBody>
      </p:sp>
      <p:sp>
        <p:nvSpPr>
          <p:cNvPr id="73" name="Oval 72"/>
          <p:cNvSpPr/>
          <p:nvPr/>
        </p:nvSpPr>
        <p:spPr>
          <a:xfrm>
            <a:off x="6647688" y="2542032"/>
            <a:ext cx="256032" cy="256032"/>
          </a:xfrm>
          <a:prstGeom prst="ellipse">
            <a:avLst/>
          </a:prstGeom>
          <a:solidFill>
            <a:srgbClr val="3F6F2A"/>
          </a:solidFill>
          <a:ln>
            <a:solidFill>
              <a:srgbClr val="3F6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rapezoid 73"/>
          <p:cNvSpPr/>
          <p:nvPr/>
        </p:nvSpPr>
        <p:spPr>
          <a:xfrm rot="10800000">
            <a:off x="6556248" y="2798064"/>
            <a:ext cx="438912" cy="384048"/>
          </a:xfrm>
          <a:prstGeom prst="trapezoid">
            <a:avLst/>
          </a:prstGeom>
          <a:solidFill>
            <a:srgbClr val="3F6F2A"/>
          </a:solidFill>
          <a:ln>
            <a:solidFill>
              <a:srgbClr val="3F6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83096" y="3200400"/>
            <a:ext cx="59436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43447"/>
                </a:solidFill>
                <a:latin typeface="Arial"/>
              </a:rPr>
              <a:t>S2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08776" y="2615184"/>
            <a:ext cx="209763" cy="28419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6242608" y="2682849"/>
            <a:ext cx="13533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6242608" y="2743748"/>
            <a:ext cx="13533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6242608" y="2804647"/>
            <a:ext cx="13533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6371173" y="2723448"/>
            <a:ext cx="121798" cy="12179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276088" y="3392424"/>
            <a:ext cx="209763" cy="28419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5309920" y="3460089"/>
            <a:ext cx="135331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5309920" y="3520988"/>
            <a:ext cx="135331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5309920" y="3581887"/>
            <a:ext cx="135331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5438485" y="3500688"/>
            <a:ext cx="121798" cy="12179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5349240" y="2907791"/>
            <a:ext cx="777239" cy="0"/>
          </a:xfrm>
          <a:prstGeom prst="line">
            <a:avLst/>
          </a:prstGeom>
          <a:ln w="27940">
            <a:solidFill>
              <a:srgbClr val="D719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Isosceles Triangle 86"/>
          <p:cNvSpPr/>
          <p:nvPr/>
        </p:nvSpPr>
        <p:spPr>
          <a:xfrm rot="16200000">
            <a:off x="5276088" y="2834639"/>
            <a:ext cx="146304" cy="146304"/>
          </a:xfrm>
          <a:prstGeom prst="triangle">
            <a:avLst/>
          </a:prstGeom>
          <a:solidFill>
            <a:srgbClr val="D7191C"/>
          </a:solidFill>
          <a:ln>
            <a:solidFill>
              <a:srgbClr val="D71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>
            <a:off x="5623560" y="3657600"/>
            <a:ext cx="795528" cy="0"/>
          </a:xfrm>
          <a:prstGeom prst="line">
            <a:avLst/>
          </a:prstGeom>
          <a:ln w="27940">
            <a:solidFill>
              <a:srgbClr val="D719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Isosceles Triangle 88"/>
          <p:cNvSpPr/>
          <p:nvPr/>
        </p:nvSpPr>
        <p:spPr>
          <a:xfrm rot="5400000">
            <a:off x="6345936" y="3584448"/>
            <a:ext cx="146304" cy="146304"/>
          </a:xfrm>
          <a:prstGeom prst="triangle">
            <a:avLst/>
          </a:prstGeom>
          <a:solidFill>
            <a:srgbClr val="D7191C"/>
          </a:solidFill>
          <a:ln>
            <a:solidFill>
              <a:srgbClr val="D71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86400" y="2596896"/>
            <a:ext cx="82296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243447"/>
                </a:solidFill>
                <a:latin typeface="Arial"/>
              </a:rPr>
              <a:t>a2, b2, c2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513831" y="3803904"/>
            <a:ext cx="82296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243447"/>
                </a:solidFill>
                <a:latin typeface="Arial"/>
              </a:rPr>
              <a:t>d2, e2, f2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663440" y="4462272"/>
            <a:ext cx="2423160" cy="502920"/>
          </a:xfrm>
          <a:prstGeom prst="roundRect">
            <a:avLst>
              <a:gd name="adj" fmla="val 8000"/>
            </a:avLst>
          </a:prstGeom>
          <a:solidFill>
            <a:srgbClr val="FFF0F0"/>
          </a:solidFill>
          <a:ln w="16510">
            <a:solidFill>
              <a:srgbClr val="D71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7191C"/>
                </a:solidFill>
                <a:latin typeface="Arial"/>
              </a:rPr>
              <a:t>Still process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7191C"/>
                </a:solidFill>
                <a:latin typeface="Arial"/>
              </a:rPr>
              <a:t>n second-half CTXs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247888" y="1463040"/>
            <a:ext cx="1490472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0786C9"/>
                </a:solidFill>
                <a:latin typeface="Arial"/>
              </a:rPr>
              <a:t>Shard S1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921240" y="1463040"/>
            <a:ext cx="1490472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3F6F2A"/>
                </a:solidFill>
                <a:latin typeface="Arial"/>
              </a:rPr>
              <a:t>Shard S2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9829800" y="1609344"/>
            <a:ext cx="0" cy="2715768"/>
          </a:xfrm>
          <a:prstGeom prst="line">
            <a:avLst/>
          </a:prstGeom>
          <a:ln w="15240">
            <a:solidFill>
              <a:srgbClr val="D4D9E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Circular Arrow 95"/>
          <p:cNvSpPr/>
          <p:nvPr/>
        </p:nvSpPr>
        <p:spPr>
          <a:xfrm>
            <a:off x="8769096" y="1883664"/>
            <a:ext cx="475488" cy="384048"/>
          </a:xfrm>
          <a:prstGeom prst="circular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613648" y="1645920"/>
            <a:ext cx="804672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447"/>
                </a:solidFill>
                <a:latin typeface="Arial"/>
              </a:rPr>
              <a:t>2. PBFT</a:t>
            </a:r>
          </a:p>
        </p:txBody>
      </p:sp>
      <p:sp>
        <p:nvSpPr>
          <p:cNvPr id="98" name="Circular Arrow 97"/>
          <p:cNvSpPr/>
          <p:nvPr/>
        </p:nvSpPr>
        <p:spPr>
          <a:xfrm>
            <a:off x="10561320" y="1883664"/>
            <a:ext cx="475488" cy="384048"/>
          </a:xfrm>
          <a:prstGeom prst="circular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405872" y="1645920"/>
            <a:ext cx="804672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447"/>
                </a:solidFill>
                <a:latin typeface="Arial"/>
              </a:rPr>
              <a:t>2. PBFT</a:t>
            </a:r>
          </a:p>
        </p:txBody>
      </p:sp>
      <p:sp>
        <p:nvSpPr>
          <p:cNvPr id="100" name="Oval 99"/>
          <p:cNvSpPr/>
          <p:nvPr/>
        </p:nvSpPr>
        <p:spPr>
          <a:xfrm>
            <a:off x="8750808" y="2432304"/>
            <a:ext cx="256032" cy="256032"/>
          </a:xfrm>
          <a:prstGeom prst="ellipse">
            <a:avLst/>
          </a:prstGeom>
          <a:solidFill>
            <a:srgbClr val="0786C9"/>
          </a:solidFill>
          <a:ln>
            <a:solidFill>
              <a:srgbClr val="078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rapezoid 100"/>
          <p:cNvSpPr/>
          <p:nvPr/>
        </p:nvSpPr>
        <p:spPr>
          <a:xfrm rot="10800000">
            <a:off x="8659368" y="2688336"/>
            <a:ext cx="438912" cy="384048"/>
          </a:xfrm>
          <a:prstGeom prst="trapezoid">
            <a:avLst/>
          </a:prstGeom>
          <a:solidFill>
            <a:srgbClr val="0786C9"/>
          </a:solidFill>
          <a:ln>
            <a:solidFill>
              <a:srgbClr val="078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0671048" y="2432304"/>
            <a:ext cx="256032" cy="256032"/>
          </a:xfrm>
          <a:prstGeom prst="ellipse">
            <a:avLst/>
          </a:prstGeom>
          <a:solidFill>
            <a:srgbClr val="3F6F2A"/>
          </a:solidFill>
          <a:ln>
            <a:solidFill>
              <a:srgbClr val="3F6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rapezoid 102"/>
          <p:cNvSpPr/>
          <p:nvPr/>
        </p:nvSpPr>
        <p:spPr>
          <a:xfrm rot="10800000">
            <a:off x="10579608" y="2688336"/>
            <a:ext cx="438912" cy="384048"/>
          </a:xfrm>
          <a:prstGeom prst="trapezoid">
            <a:avLst/>
          </a:prstGeom>
          <a:solidFill>
            <a:srgbClr val="3F6F2A"/>
          </a:solidFill>
          <a:ln>
            <a:solidFill>
              <a:srgbClr val="3F6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9628632" y="3529584"/>
            <a:ext cx="502920" cy="50292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Preparation 104"/>
          <p:cNvSpPr/>
          <p:nvPr/>
        </p:nvSpPr>
        <p:spPr>
          <a:xfrm>
            <a:off x="9354312" y="4005072"/>
            <a:ext cx="1042415" cy="384048"/>
          </a:xfrm>
          <a:prstGeom prst="flowChartPreparation">
            <a:avLst/>
          </a:prstGeom>
          <a:solidFill>
            <a:srgbClr val="E8FAF7"/>
          </a:solidFill>
          <a:ln w="203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43447"/>
                </a:solidFill>
                <a:latin typeface="Arial"/>
              </a:rPr>
              <a:t>Solver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897112" y="3483863"/>
            <a:ext cx="192755" cy="2611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" name="Connector 106"/>
          <p:cNvCxnSpPr/>
          <p:nvPr/>
        </p:nvCxnSpPr>
        <p:spPr>
          <a:xfrm>
            <a:off x="8928201" y="3546043"/>
            <a:ext cx="124359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8928201" y="3602004"/>
            <a:ext cx="124359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8928201" y="3657965"/>
            <a:ext cx="124359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9046342" y="3583350"/>
            <a:ext cx="111922" cy="11192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0451592" y="3483863"/>
            <a:ext cx="192755" cy="2611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" name="Connector 111"/>
          <p:cNvCxnSpPr/>
          <p:nvPr/>
        </p:nvCxnSpPr>
        <p:spPr>
          <a:xfrm>
            <a:off x="10482681" y="3546043"/>
            <a:ext cx="124359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10482681" y="3602004"/>
            <a:ext cx="124359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10482681" y="3657965"/>
            <a:ext cx="124359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10600822" y="3583350"/>
            <a:ext cx="111922" cy="11192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 flipH="1" flipV="1">
            <a:off x="9052560" y="3026663"/>
            <a:ext cx="731520" cy="502921"/>
          </a:xfrm>
          <a:prstGeom prst="line">
            <a:avLst/>
          </a:prstGeom>
          <a:ln w="30480">
            <a:solidFill>
              <a:srgbClr val="3F6F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Isosceles Triangle 116"/>
          <p:cNvSpPr/>
          <p:nvPr/>
        </p:nvSpPr>
        <p:spPr>
          <a:xfrm rot="18600000">
            <a:off x="8979408" y="2953511"/>
            <a:ext cx="146304" cy="146304"/>
          </a:xfrm>
          <a:prstGeom prst="triangle">
            <a:avLst/>
          </a:prstGeom>
          <a:solidFill>
            <a:srgbClr val="3F6F2A"/>
          </a:solidFill>
          <a:ln>
            <a:solidFill>
              <a:srgbClr val="3F6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 flipV="1">
            <a:off x="9966960" y="3026663"/>
            <a:ext cx="713232" cy="502921"/>
          </a:xfrm>
          <a:prstGeom prst="line">
            <a:avLst/>
          </a:prstGeom>
          <a:ln w="30480">
            <a:solidFill>
              <a:srgbClr val="3F6F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Isosceles Triangle 118"/>
          <p:cNvSpPr/>
          <p:nvPr/>
        </p:nvSpPr>
        <p:spPr>
          <a:xfrm rot="3000000">
            <a:off x="10607040" y="2953511"/>
            <a:ext cx="146304" cy="146304"/>
          </a:xfrm>
          <a:prstGeom prst="triangle">
            <a:avLst/>
          </a:prstGeom>
          <a:solidFill>
            <a:srgbClr val="3F6F2A"/>
          </a:solidFill>
          <a:ln>
            <a:solidFill>
              <a:srgbClr val="3F6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348472" y="3127248"/>
            <a:ext cx="914400" cy="34747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80" b="0" i="1">
                <a:solidFill>
                  <a:srgbClr val="243447"/>
                </a:solidFill>
                <a:latin typeface="Arial"/>
              </a:rPr>
              <a:t>settlement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80" b="0" i="1">
                <a:solidFill>
                  <a:srgbClr val="243447"/>
                </a:solidFill>
                <a:latin typeface="Arial"/>
              </a:rPr>
              <a:t>tx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488168" y="3127248"/>
            <a:ext cx="914400" cy="34747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80" b="0" i="1">
                <a:solidFill>
                  <a:srgbClr val="243447"/>
                </a:solidFill>
                <a:latin typeface="Arial"/>
              </a:rPr>
              <a:t>settlement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80" b="0" i="1">
                <a:solidFill>
                  <a:srgbClr val="243447"/>
                </a:solidFill>
                <a:latin typeface="Arial"/>
              </a:rPr>
              <a:t>tx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8293608" y="4572000"/>
            <a:ext cx="1920240" cy="530352"/>
          </a:xfrm>
          <a:prstGeom prst="roundRect">
            <a:avLst>
              <a:gd name="adj" fmla="val 8000"/>
            </a:avLst>
          </a:prstGeom>
          <a:solidFill>
            <a:srgbClr val="E8FAF7"/>
          </a:solidFill>
          <a:ln w="16510">
            <a:solidFill>
              <a:srgbClr val="3F6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F6F2A"/>
                </a:solidFill>
                <a:latin typeface="Arial"/>
              </a:rPr>
              <a:t>Full offset: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F6F2A"/>
                </a:solidFill>
                <a:latin typeface="Arial"/>
              </a:rPr>
              <a:t>no CTX residual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10442448" y="4096512"/>
            <a:ext cx="1133856" cy="713232"/>
          </a:xfrm>
          <a:prstGeom prst="roundRect">
            <a:avLst>
              <a:gd name="adj" fmla="val 12000"/>
            </a:avLst>
          </a:prstGeom>
          <a:solidFill>
            <a:srgbClr val="F7FAFC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0524744" y="4279392"/>
            <a:ext cx="144840" cy="144840"/>
          </a:xfrm>
          <a:prstGeom prst="ellipse">
            <a:avLst/>
          </a:prstGeom>
          <a:solidFill>
            <a:srgbClr val="FFD84D"/>
          </a:solidFill>
          <a:ln>
            <a:solidFill>
              <a:srgbClr val="F2B7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0573024" y="4412162"/>
            <a:ext cx="48280" cy="48280"/>
          </a:xfrm>
          <a:prstGeom prst="rect">
            <a:avLst/>
          </a:prstGeom>
          <a:solidFill>
            <a:srgbClr val="F2B705"/>
          </a:solidFill>
          <a:ln>
            <a:solidFill>
              <a:srgbClr val="F2B7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0671048" y="4315968"/>
            <a:ext cx="731520" cy="27432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7191C"/>
                </a:solidFill>
                <a:latin typeface="Arial"/>
              </a:rPr>
              <a:t>Low CTX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7191C"/>
                </a:solidFill>
                <a:latin typeface="Arial"/>
              </a:rPr>
              <a:t>load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