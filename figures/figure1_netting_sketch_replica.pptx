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852160" cy="310896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Figure 1. Bilateral netting mechanism under full offset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94360"/>
            <a:ext cx="5760720" cy="237744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Arial"/>
              </a:rPr>
              <a:t>First-half CTXs, traditional second-half CTXs, and netting-based settlement.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60120"/>
            <a:ext cx="57607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161288"/>
            <a:ext cx="1234440" cy="256032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827"/>
                </a:solidFill>
                <a:latin typeface="Arial"/>
              </a:rPr>
              <a:t>CTX first 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78308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8308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S2</a:t>
            </a:r>
          </a:p>
        </p:txBody>
      </p:sp>
      <p:sp>
        <p:nvSpPr>
          <p:cNvPr id="8" name="Curved Down Arrow 7"/>
          <p:cNvSpPr/>
          <p:nvPr/>
        </p:nvSpPr>
        <p:spPr>
          <a:xfrm>
            <a:off x="2176272" y="1362456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106424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1. PBFT</a:t>
            </a:r>
          </a:p>
        </p:txBody>
      </p:sp>
      <p:sp>
        <p:nvSpPr>
          <p:cNvPr id="10" name="Curved Down Arrow 9"/>
          <p:cNvSpPr/>
          <p:nvPr/>
        </p:nvSpPr>
        <p:spPr>
          <a:xfrm>
            <a:off x="4736592" y="1362456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06424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1. PBFT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1947672"/>
            <a:ext cx="1499616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4366259" y="1888236"/>
            <a:ext cx="118872" cy="118872"/>
          </a:xfrm>
          <a:prstGeom prst="triangl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3017520" y="2212848"/>
            <a:ext cx="1499616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6200000">
            <a:off x="2958084" y="2153412"/>
            <a:ext cx="118872" cy="118872"/>
          </a:xfrm>
          <a:prstGeom prst="triangl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1700784"/>
            <a:ext cx="1170432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 i="1">
                <a:solidFill>
                  <a:srgbClr val="111827"/>
                </a:solidFill>
                <a:latin typeface="Arial"/>
              </a:rPr>
              <a:t>a1, b1, 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240280"/>
            <a:ext cx="1170432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 i="1">
                <a:solidFill>
                  <a:srgbClr val="111827"/>
                </a:solidFill>
                <a:latin typeface="Arial"/>
              </a:rPr>
              <a:t>d1, e1,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691640"/>
            <a:ext cx="960120" cy="786384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827"/>
                </a:solidFill>
                <a:latin typeface="Arial"/>
              </a:rPr>
              <a:t>There are n bidirectional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827"/>
                </a:solidFill>
                <a:latin typeface="Arial"/>
              </a:rPr>
              <a:t>cross-shard transactions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827"/>
                </a:solidFill>
                <a:latin typeface="Arial"/>
              </a:rPr>
              <a:t>between S1 and S2.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788920"/>
            <a:ext cx="57607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2971800"/>
            <a:ext cx="1417320" cy="256032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827"/>
                </a:solidFill>
                <a:latin typeface="Arial"/>
              </a:rPr>
              <a:t>CTX second half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83280"/>
            <a:ext cx="1143000" cy="32004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11827"/>
                </a:solidFill>
                <a:latin typeface="Arial"/>
              </a:rPr>
              <a:t>Traditional: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79476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79476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S2</a:t>
            </a:r>
          </a:p>
        </p:txBody>
      </p:sp>
      <p:sp>
        <p:nvSpPr>
          <p:cNvPr id="24" name="Curved Down Arrow 23"/>
          <p:cNvSpPr/>
          <p:nvPr/>
        </p:nvSpPr>
        <p:spPr>
          <a:xfrm>
            <a:off x="2039112" y="3374136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118104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2. PBFT</a:t>
            </a:r>
          </a:p>
        </p:txBody>
      </p:sp>
      <p:sp>
        <p:nvSpPr>
          <p:cNvPr id="26" name="Curved Down Arrow 25"/>
          <p:cNvSpPr/>
          <p:nvPr/>
        </p:nvSpPr>
        <p:spPr>
          <a:xfrm>
            <a:off x="4480559" y="3374136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7" y="3118104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2. PBFT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834640" y="3950208"/>
            <a:ext cx="1371600" cy="0"/>
          </a:xfrm>
          <a:prstGeom prst="line">
            <a:avLst/>
          </a:prstGeom>
          <a:ln w="1778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6200000">
            <a:off x="2775204" y="3890772"/>
            <a:ext cx="118872" cy="118872"/>
          </a:xfrm>
          <a:prstGeom prst="triangl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834640" y="4206240"/>
            <a:ext cx="1371600" cy="0"/>
          </a:xfrm>
          <a:prstGeom prst="line">
            <a:avLst/>
          </a:prstGeom>
          <a:ln w="1778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4146803" y="4146803"/>
            <a:ext cx="118872" cy="118872"/>
          </a:xfrm>
          <a:prstGeom prst="triangl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721608"/>
            <a:ext cx="10058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 i="1">
                <a:solidFill>
                  <a:srgbClr val="111827"/>
                </a:solidFill>
                <a:latin typeface="Arial"/>
              </a:rPr>
              <a:t>a2, b2, 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233672"/>
            <a:ext cx="10058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 i="1">
                <a:solidFill>
                  <a:srgbClr val="111827"/>
                </a:solidFill>
                <a:latin typeface="Arial"/>
              </a:rPr>
              <a:t>d2, e2, f2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44752" y="4809744"/>
            <a:ext cx="4160520" cy="420624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11827"/>
                </a:solidFill>
                <a:latin typeface="Arial"/>
              </a:rPr>
              <a:t>Traditional protocols still 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11827"/>
                </a:solidFill>
                <a:latin typeface="Arial"/>
              </a:rPr>
              <a:t>n second-half CTXs.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5532120"/>
            <a:ext cx="57607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806440"/>
            <a:ext cx="1143000" cy="310896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11827"/>
                </a:solidFill>
                <a:latin typeface="Arial"/>
              </a:rPr>
              <a:t>Netting: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56231" y="6382512"/>
            <a:ext cx="749808" cy="59436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6382512"/>
            <a:ext cx="749808" cy="59436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S2</a:t>
            </a:r>
          </a:p>
        </p:txBody>
      </p:sp>
      <p:sp>
        <p:nvSpPr>
          <p:cNvPr id="39" name="Curved Down Arrow 38"/>
          <p:cNvSpPr/>
          <p:nvPr/>
        </p:nvSpPr>
        <p:spPr>
          <a:xfrm>
            <a:off x="1901952" y="5961888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5705855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2. PBFT</a:t>
            </a:r>
          </a:p>
        </p:txBody>
      </p:sp>
      <p:sp>
        <p:nvSpPr>
          <p:cNvPr id="41" name="Curved Down Arrow 40"/>
          <p:cNvSpPr/>
          <p:nvPr/>
        </p:nvSpPr>
        <p:spPr>
          <a:xfrm>
            <a:off x="4453128" y="5961888"/>
            <a:ext cx="566928" cy="347472"/>
          </a:xfrm>
          <a:prstGeom prst="curvedDownArrow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6" y="5705855"/>
            <a:ext cx="777240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827"/>
                </a:solidFill>
                <a:latin typeface="Arial"/>
              </a:rPr>
              <a:t>2. PBFT</a:t>
            </a:r>
          </a:p>
        </p:txBody>
      </p:sp>
      <p:sp>
        <p:nvSpPr>
          <p:cNvPr id="43" name="Oval 42"/>
          <p:cNvSpPr/>
          <p:nvPr/>
        </p:nvSpPr>
        <p:spPr>
          <a:xfrm>
            <a:off x="3090672" y="745236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3044952" y="7827264"/>
            <a:ext cx="512064" cy="4572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8284464"/>
            <a:ext cx="960120" cy="2286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1">
                <a:solidFill>
                  <a:srgbClr val="111827"/>
                </a:solidFill>
                <a:latin typeface="Arial"/>
              </a:rPr>
              <a:t>Solver</a:t>
            </a:r>
          </a:p>
        </p:txBody>
      </p:sp>
      <p:cxnSp>
        <p:nvCxnSpPr>
          <p:cNvPr id="46" name="Connector 45"/>
          <p:cNvCxnSpPr/>
          <p:nvPr/>
        </p:nvCxnSpPr>
        <p:spPr>
          <a:xfrm flipH="1" flipV="1">
            <a:off x="2304288" y="7059168"/>
            <a:ext cx="950976" cy="384048"/>
          </a:xfrm>
          <a:prstGeom prst="line">
            <a:avLst/>
          </a:prstGeom>
          <a:ln w="2286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8900000">
            <a:off x="2244852" y="6999731"/>
            <a:ext cx="118872" cy="118872"/>
          </a:xfrm>
          <a:prstGeom prst="triangl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3401568" y="7059168"/>
            <a:ext cx="1289304" cy="384048"/>
          </a:xfrm>
          <a:prstGeom prst="line">
            <a:avLst/>
          </a:prstGeom>
          <a:ln w="2286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2700000">
            <a:off x="4631436" y="6999731"/>
            <a:ext cx="118872" cy="118872"/>
          </a:xfrm>
          <a:prstGeom prst="triangl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8992" y="7059168"/>
            <a:ext cx="1417320" cy="2286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827"/>
                </a:solidFill>
                <a:latin typeface="Arial"/>
              </a:rPr>
              <a:t>x settlement tx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7059168"/>
            <a:ext cx="1325880" cy="228600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827"/>
                </a:solidFill>
                <a:latin typeface="Arial"/>
              </a:rPr>
              <a:t>settlement tx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4519" y="8613648"/>
            <a:ext cx="3246120" cy="47548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59669"/>
                </a:solidFill>
                <a:latin typeface="Arial"/>
              </a:rPr>
              <a:t>Under full bilateral offset,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59669"/>
                </a:solidFill>
                <a:latin typeface="Arial"/>
              </a:rPr>
              <a:t>Netting only issues compact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59669"/>
                </a:solidFill>
                <a:latin typeface="Arial"/>
              </a:rPr>
              <a:t>settlement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