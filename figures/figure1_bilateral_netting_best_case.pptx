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8404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Figure 1. Bilateral netting removes reciprocal cross-shard workload in the best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03504"/>
            <a:ext cx="672084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B7280"/>
                </a:solidFill>
                <a:latin typeface="Arial"/>
              </a:rPr>
              <a:t>Balanced opposite flows are aggregated before settlement, so only the net residual enters the cross-shard confirmation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54406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52144"/>
            <a:ext cx="329184" cy="256032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 w="1143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133856"/>
            <a:ext cx="475488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Traditional cross-shard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024128"/>
            <a:ext cx="54406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73368" y="1152144"/>
            <a:ext cx="329184" cy="256032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 w="1143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7416" y="1133856"/>
            <a:ext cx="475488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Proposed bilateral netting, full-offset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93392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Shard S1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PBFT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93392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Shard S2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PBFT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1673352"/>
            <a:ext cx="1078992" cy="256032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Arial"/>
              </a:rPr>
              <a:t>local consensus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673352"/>
            <a:ext cx="1078992" cy="256032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Arial"/>
              </a:rPr>
              <a:t>local consensus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39696" y="2057400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9696" y="2212848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39696" y="2368296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39696" y="2523744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139696" y="2862072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39696" y="3017520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139696" y="3172968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139696" y="3328415"/>
            <a:ext cx="2112264" cy="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304288" y="1673352"/>
            <a:ext cx="1170432" cy="475488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143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DC2626"/>
                </a:solidFill>
                <a:latin typeface="Arial"/>
              </a:rPr>
              <a:t>100 cross-shard tx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DC2626"/>
                </a:solidFill>
                <a:latin typeface="Arial"/>
              </a:rPr>
              <a:t>S1 to S2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3401568"/>
            <a:ext cx="1170432" cy="475488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143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DC2626"/>
                </a:solidFill>
                <a:latin typeface="Arial"/>
              </a:rPr>
              <a:t>100 cross-shard tx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DC2626"/>
                </a:solidFill>
                <a:latin typeface="Arial"/>
              </a:rPr>
              <a:t>S2 to S1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" y="4005072"/>
            <a:ext cx="4251960" cy="34747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F2937"/>
                </a:solidFill>
                <a:latin typeface="Arial"/>
              </a:rPr>
              <a:t>Both directions enter relay / broker / receipt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62272"/>
            <a:ext cx="4069080" cy="2377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Cross-shard workload = 200 tx-equivalents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993392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Shard S1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PBFT group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22992" y="1993392"/>
            <a:ext cx="1143000" cy="8229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Shard S2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PBFT group</a:t>
            </a:r>
          </a:p>
        </p:txBody>
      </p:sp>
      <p:sp>
        <p:nvSpPr>
          <p:cNvPr id="28" name="Hexagon 27"/>
          <p:cNvSpPr/>
          <p:nvPr/>
        </p:nvSpPr>
        <p:spPr>
          <a:xfrm>
            <a:off x="8165592" y="1874519"/>
            <a:ext cx="1600200" cy="1051560"/>
          </a:xfrm>
          <a:prstGeom prst="hexagon">
            <a:avLst/>
          </a:prstGeom>
          <a:solidFill>
            <a:srgbClr val="EEF2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Netting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solver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08392" y="2212848"/>
            <a:ext cx="457200" cy="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756648" y="2578608"/>
            <a:ext cx="429768" cy="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516368" y="1499616"/>
            <a:ext cx="1554480" cy="292608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143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DC2626"/>
                </a:solidFill>
                <a:latin typeface="Arial"/>
              </a:rPr>
              <a:t>Gross S1 to S2 = 100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999232"/>
            <a:ext cx="1554480" cy="292608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 w="1143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DC2626"/>
                </a:solidFill>
                <a:latin typeface="Arial"/>
              </a:rPr>
              <a:t>Gross S2 to S1 =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2127" y="3328416"/>
            <a:ext cx="2176272" cy="32004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 w="1143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4F46E5"/>
                </a:solidFill>
                <a:latin typeface="Arial"/>
              </a:rPr>
              <a:t>cancel reciprocal obligations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3776472"/>
            <a:ext cx="1965960" cy="420624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 w="1143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Arial"/>
              </a:rPr>
              <a:t>Net residual = 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15400" y="4206240"/>
            <a:ext cx="0" cy="347472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53527" y="4544568"/>
            <a:ext cx="2542032" cy="347472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 w="1143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59669"/>
                </a:solidFill>
                <a:latin typeface="Arial"/>
              </a:rPr>
              <a:t>No ordinary cross-shard settlement tx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7589520" y="2907792"/>
            <a:ext cx="685800" cy="402336"/>
          </a:xfrm>
          <a:prstGeom prst="line">
            <a:avLst/>
          </a:prstGeom>
          <a:ln w="1524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46920" y="2907792"/>
            <a:ext cx="685800" cy="402336"/>
          </a:xfrm>
          <a:prstGeom prst="line">
            <a:avLst/>
          </a:prstGeom>
          <a:ln w="1524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01000" y="2898648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B7280"/>
                </a:solidFill>
                <a:latin typeface="Arial"/>
              </a:rPr>
              <a:t>compact clearing certificate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367528"/>
            <a:ext cx="11173968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5495544"/>
            <a:ext cx="329184" cy="256032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 w="1143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5477256"/>
            <a:ext cx="10488168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Mechanism-level effect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" y="5742432"/>
            <a:ext cx="1508760" cy="256032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6B7280"/>
                </a:solidFill>
                <a:latin typeface="Arial"/>
              </a:rPr>
              <a:t>cross-shard settlement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" y="6025896"/>
            <a:ext cx="1508760" cy="384048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 w="1143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200 -&gt; 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26080" y="5742432"/>
            <a:ext cx="1508760" cy="256032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6B7280"/>
                </a:solidFill>
                <a:latin typeface="Arial"/>
              </a:rPr>
              <a:t>PBFT/block pressure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6080" y="6025896"/>
            <a:ext cx="1508760" cy="384048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 w="1143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lower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2040" y="5742432"/>
            <a:ext cx="1508760" cy="256032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6B7280"/>
                </a:solidFill>
                <a:latin typeface="Arial"/>
              </a:rPr>
              <a:t>relay/broker messages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2040" y="6025896"/>
            <a:ext cx="1508760" cy="384048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 w="1143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lower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0" y="5742432"/>
            <a:ext cx="1508760" cy="256032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6B7280"/>
                </a:solidFill>
                <a:latin typeface="Arial"/>
              </a:rPr>
              <a:t>txpool tail latency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6025896"/>
            <a:ext cx="1508760" cy="384048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 w="1143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shorter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5660136"/>
            <a:ext cx="2240280" cy="5029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Arial"/>
              </a:rPr>
              <a:t>Best case shown: perfectly balanced bilateral flows. Netting benefit decreases as traffic becomes one-directional.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539496"/>
            <a:ext cx="3886200" cy="292608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59669"/>
                </a:solidFill>
                <a:latin typeface="Arial"/>
              </a:rPr>
              <a:t>min(100, 100) is offset; |100 - 100| = 0 remains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